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ACA4A-E579-4D4E-8042-69BEFDC5F02C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EBB70-C901-4AD4-97FE-D5E5E71AE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6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06629-F8BD-403F-9A31-294D1D1DA3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6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8BFC-0C98-7A48-6553-299067EAC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9F2D3-0FA1-29AB-1567-D2D509A44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89A5E-2233-00F9-60B5-D920B77A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CF289-97D2-A9AA-9063-BA892692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A9AAD-F187-8673-DF5E-A037A5AD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5816-E08F-7726-58B7-CCE41932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F8845-3072-E093-1571-E5648620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9434-7F56-6713-005E-ABB175EC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0895-4D57-C308-5EC4-523540B1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E73A4-BCC3-AFC9-43CF-07725000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6671-2FE2-3B4D-B9FD-CB27FE7D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8B8EF-9847-341F-38B6-167CC0C9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1D9B-B62A-97E2-5BA0-9F474C8F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734B-E932-41C4-96DB-DFBA1326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53FD-DFA6-3414-D132-334BA1CB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0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0237-1AF5-1A97-8809-1CCA5AC6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8CA4E-20C4-F3CA-D35D-A15013398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18764-865F-F2F2-C739-37DC9A33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B6729-A9C7-01C8-917D-DD2DD386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73B78-6524-38E4-BFE2-3BFF4FE0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454BA-1B95-3334-594A-79EBBA3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2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2FDE-8819-9DFE-E51B-45C05B60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E9AC6-23E9-773A-F9CC-3CBB426B8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0717D-2586-B58F-78E3-C6BCD98F8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DEF34-0F2A-2DBA-498C-BAA78F8D1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394BD-63C1-84CC-D3AC-A856F6A0D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CCF389-FA0B-0170-428D-30AEFEF6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0C6FE-CAD0-9518-E06F-9697E4B8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24BAE-D83B-7F20-DA10-1C530875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1E62-3C61-F086-41E8-775BAA91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B7445-4304-48A0-AB1C-6BBC574B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43D51-2F24-7F08-7D13-33436A93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66463-019F-13B4-4A6C-A7B37A4E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5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CFA42-D496-5822-CDF1-8E7E5423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429EC-25C0-0A4B-1F88-D7E643A9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D73E7-FF5C-4B8C-E439-67F2F320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277DA-9EEA-FBE0-D340-6CBCE0A2BC6B}"/>
              </a:ext>
            </a:extLst>
          </p:cNvPr>
          <p:cNvSpPr/>
          <p:nvPr userDrawn="1"/>
        </p:nvSpPr>
        <p:spPr>
          <a:xfrm>
            <a:off x="0" y="6849"/>
            <a:ext cx="12192000" cy="11355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61B2E6F9-D337-D291-4F6B-10A5A93465DF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435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0149-84FC-85B7-E5C1-1132D7CB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07F2-B68B-5CAD-BB7B-F6A8F1A5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D4306-94A7-35CE-A594-F4C59B21C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47703-3879-09BE-5410-05EE8B34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07E8-DDD4-B3AF-7340-EDB4E3DD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94688-358C-954E-0B9D-37AB0FAA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7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89AC-CCFD-0E66-96E7-AF7937C2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07850-A38A-EE1A-A4F0-51B93543E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34FB8-119A-B832-F68E-2DDD2303B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419A-6417-A554-6994-1A6A6B29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19DC5-DAA8-FE0F-8C55-C5B0412C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56C1B-F985-9B8C-6E3B-18F8DCBC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2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E086-584D-D750-6DF5-25690AB1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8477D-59ED-DEDC-4F5D-79EE1142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5C25-1A67-CE82-F5E2-BDF15934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77C62-28C3-3F81-85B0-20091665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FF198-717A-BE04-0CB1-9F2A629B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022F1-6428-9276-5757-A95053F38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FDDD8-9CC3-C532-C653-FE35E4DA4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C65B-0A05-7963-D8BE-1C4DD525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08C29-9DFE-5EB5-90A3-882A01C7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7B283-CA1D-F869-067E-BDAC588D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F0694-829A-2D0D-4398-AA4F0666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C3E4-0123-090E-76CE-DFC4276A1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A94C1-197B-6503-2882-FB5A3597E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6CE69-5B8F-4406-9E94-B6CCE996852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7CB6B-AB02-1AD2-E1D9-3E09AA119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24491-74FF-A214-B233-4984989E1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A6A0E-FA48-4BED-A776-CCCD81A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3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139F7-B8CD-E520-D9A5-805E3BCE6CF4}"/>
              </a:ext>
            </a:extLst>
          </p:cNvPr>
          <p:cNvSpPr/>
          <p:nvPr/>
        </p:nvSpPr>
        <p:spPr>
          <a:xfrm>
            <a:off x="6096001" y="1"/>
            <a:ext cx="6096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77833-06EE-63B8-DC97-BC4A2CDD65B1}"/>
              </a:ext>
            </a:extLst>
          </p:cNvPr>
          <p:cNvSpPr/>
          <p:nvPr/>
        </p:nvSpPr>
        <p:spPr>
          <a:xfrm>
            <a:off x="786582" y="1138519"/>
            <a:ext cx="4807974" cy="764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Chapter 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EC203-7727-5745-742D-FE9C3DAF449F}"/>
              </a:ext>
            </a:extLst>
          </p:cNvPr>
          <p:cNvSpPr/>
          <p:nvPr/>
        </p:nvSpPr>
        <p:spPr>
          <a:xfrm>
            <a:off x="406402" y="2367560"/>
            <a:ext cx="5731434" cy="106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Popin"/>
              </a:rPr>
              <a:t>Numpy</a:t>
            </a:r>
            <a:r>
              <a:rPr lang="en-US" sz="2800" b="1" dirty="0">
                <a:solidFill>
                  <a:srgbClr val="FF0000"/>
                </a:solidFill>
                <a:latin typeface="Popin"/>
              </a:rPr>
              <a:t> in python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3B7AB-EE0B-5FD7-F70A-D87FCF423C96}"/>
              </a:ext>
            </a:extLst>
          </p:cNvPr>
          <p:cNvSpPr/>
          <p:nvPr/>
        </p:nvSpPr>
        <p:spPr>
          <a:xfrm>
            <a:off x="630519" y="3636682"/>
            <a:ext cx="5211483" cy="764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Lecturer.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Mohamed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CFF585-1B74-77B8-76E6-0F316FA56992}"/>
              </a:ext>
            </a:extLst>
          </p:cNvPr>
          <p:cNvSpPr/>
          <p:nvPr/>
        </p:nvSpPr>
        <p:spPr>
          <a:xfrm>
            <a:off x="7433187" y="304795"/>
            <a:ext cx="3097161" cy="764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accent4"/>
                </a:solidFill>
                <a:latin typeface="Popin"/>
              </a:rPr>
              <a:t>Objectives</a:t>
            </a:r>
            <a:endParaRPr lang="en-US" sz="2800" b="1" dirty="0">
              <a:solidFill>
                <a:schemeClr val="accent4"/>
              </a:solidFill>
              <a:latin typeface="Popi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9C26C-E488-9347-9B7D-89B3777F5EA0}"/>
              </a:ext>
            </a:extLst>
          </p:cNvPr>
          <p:cNvSpPr txBox="1"/>
          <p:nvPr/>
        </p:nvSpPr>
        <p:spPr>
          <a:xfrm>
            <a:off x="6179671" y="1314824"/>
            <a:ext cx="5868895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Create and initialize NumPy arrays using </a:t>
            </a:r>
            <a:r>
              <a:rPr lang="en-US" sz="1900" dirty="0" err="1">
                <a:solidFill>
                  <a:schemeClr val="bg1"/>
                </a:solidFill>
              </a:rPr>
              <a:t>np.array</a:t>
            </a:r>
            <a:r>
              <a:rPr lang="en-US" sz="1900" dirty="0">
                <a:solidFill>
                  <a:schemeClr val="bg1"/>
                </a:solidFill>
              </a:rPr>
              <a:t>(), </a:t>
            </a:r>
            <a:r>
              <a:rPr lang="en-US" sz="1900" dirty="0" err="1">
                <a:solidFill>
                  <a:schemeClr val="bg1"/>
                </a:solidFill>
              </a:rPr>
              <a:t>np.arange</a:t>
            </a:r>
            <a:r>
              <a:rPr lang="en-US" sz="1900" dirty="0">
                <a:solidFill>
                  <a:schemeClr val="bg1"/>
                </a:solidFill>
              </a:rPr>
              <a:t>(), </a:t>
            </a:r>
            <a:r>
              <a:rPr lang="en-US" sz="1900" dirty="0" err="1">
                <a:solidFill>
                  <a:schemeClr val="bg1"/>
                </a:solidFill>
              </a:rPr>
              <a:t>np.linspace</a:t>
            </a:r>
            <a:r>
              <a:rPr lang="en-US" sz="1900" dirty="0">
                <a:solidFill>
                  <a:schemeClr val="bg1"/>
                </a:solidFill>
              </a:rPr>
              <a:t>(), </a:t>
            </a:r>
            <a:r>
              <a:rPr lang="en-US" sz="1900" dirty="0" err="1">
                <a:solidFill>
                  <a:schemeClr val="bg1"/>
                </a:solidFill>
              </a:rPr>
              <a:t>np.full</a:t>
            </a:r>
            <a:r>
              <a:rPr lang="en-US" sz="1900" dirty="0">
                <a:solidFill>
                  <a:schemeClr val="bg1"/>
                </a:solidFill>
              </a:rPr>
              <a:t>(), </a:t>
            </a:r>
            <a:r>
              <a:rPr lang="en-US" sz="1900" dirty="0" err="1">
                <a:solidFill>
                  <a:schemeClr val="bg1"/>
                </a:solidFill>
              </a:rPr>
              <a:t>np.zeros</a:t>
            </a:r>
            <a:r>
              <a:rPr lang="en-US" sz="1900" dirty="0">
                <a:solidFill>
                  <a:schemeClr val="bg1"/>
                </a:solidFill>
              </a:rPr>
              <a:t>(), and </a:t>
            </a:r>
            <a:r>
              <a:rPr lang="en-US" sz="1900" dirty="0" err="1">
                <a:solidFill>
                  <a:schemeClr val="bg1"/>
                </a:solidFill>
              </a:rPr>
              <a:t>np.ones</a:t>
            </a:r>
            <a:r>
              <a:rPr lang="en-US" sz="1900" dirty="0">
                <a:solidFill>
                  <a:schemeClr val="bg1"/>
                </a:solidFill>
              </a:rPr>
              <a:t>(). 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Access and manipulate array elements using indexing, slicing, Boolean indexing, and reshaping techniques.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Perform mathematical and statistical operations using NumPy functions such as </a:t>
            </a:r>
            <a:r>
              <a:rPr lang="en-US" sz="1900" dirty="0" err="1">
                <a:solidFill>
                  <a:schemeClr val="bg1"/>
                </a:solidFill>
              </a:rPr>
              <a:t>np.sum</a:t>
            </a:r>
            <a:r>
              <a:rPr lang="en-US" sz="1900" dirty="0">
                <a:solidFill>
                  <a:schemeClr val="bg1"/>
                </a:solidFill>
              </a:rPr>
              <a:t>(), </a:t>
            </a:r>
            <a:r>
              <a:rPr lang="en-US" sz="1900" dirty="0" err="1">
                <a:solidFill>
                  <a:schemeClr val="bg1"/>
                </a:solidFill>
              </a:rPr>
              <a:t>np.mean</a:t>
            </a:r>
            <a:r>
              <a:rPr lang="en-US" sz="1900" dirty="0">
                <a:solidFill>
                  <a:schemeClr val="bg1"/>
                </a:solidFill>
              </a:rPr>
              <a:t>(), and np.log().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Explain and apply broadcasting to perform efficient operations on arrays of different shapes.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Understand NumPy array structure, memory storage, strides, and reshaping methods such as .reshape().ravel(), and .flatten().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chemeClr val="bg1"/>
                </a:solidFill>
              </a:rPr>
              <a:t>Apply NumPy to calculate and interpret descriptive statistics, including mean, median, mode, range, variance, standard deviation, quartiles, IQR, and lower and upper outlier limits.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266B86-F406-22C5-4D2B-A42654748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09" y="4905804"/>
            <a:ext cx="4237318" cy="1268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6414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DFF02A6-07E9-A773-B633-EEF71BE1B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904" y="4412322"/>
            <a:ext cx="57150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A0A006-6ABA-C676-22AB-1EDA51623433}"/>
              </a:ext>
            </a:extLst>
          </p:cNvPr>
          <p:cNvSpPr txBox="1"/>
          <p:nvPr/>
        </p:nvSpPr>
        <p:spPr>
          <a:xfrm>
            <a:off x="465826" y="1500996"/>
            <a:ext cx="110573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NumPy</a:t>
            </a:r>
            <a:r>
              <a:rPr lang="en-US" dirty="0"/>
              <a:t> stands for “Numerical Python.” It is a widely used Python library for working with numerical data, especially arrays, vectors, matrices, linear algebra, and other mathematical computations.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NumPy is mainly implemented in the </a:t>
            </a:r>
            <a:r>
              <a:rPr lang="en-US" b="1" dirty="0"/>
              <a:t>C programming language</a:t>
            </a:r>
            <a:r>
              <a:rPr lang="en-US" dirty="0"/>
              <a:t>, which allows it to process data much faster and use memory more efficiently than standard Python lists.</a:t>
            </a:r>
          </a:p>
          <a:p>
            <a:endParaRPr lang="en-US" dirty="0"/>
          </a:p>
          <a:p>
            <a:r>
              <a:rPr lang="en-US" dirty="0"/>
              <a:t>NumPy can be installed using </a:t>
            </a:r>
            <a:r>
              <a:rPr lang="en-US" dirty="0" err="1"/>
              <a:t>conda</a:t>
            </a:r>
            <a:r>
              <a:rPr lang="en-US" dirty="0"/>
              <a:t> (if not already):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conda</a:t>
            </a:r>
            <a:r>
              <a:rPr lang="en-US" dirty="0">
                <a:solidFill>
                  <a:srgbClr val="FF0000"/>
                </a:solidFill>
              </a:rPr>
              <a:t> install </a:t>
            </a:r>
            <a:r>
              <a:rPr lang="en-US" dirty="0" err="1">
                <a:solidFill>
                  <a:srgbClr val="FF0000"/>
                </a:solidFill>
              </a:rPr>
              <a:t>numpy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Introduction to NumPy</a:t>
            </a:r>
          </a:p>
        </p:txBody>
      </p:sp>
    </p:spTree>
    <p:extLst>
      <p:ext uri="{BB962C8B-B14F-4D97-AF65-F5344CB8AC3E}">
        <p14:creationId xmlns:p14="http://schemas.microsoft.com/office/powerpoint/2010/main" val="227143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0A006-6ABA-C676-22AB-1EDA51623433}"/>
              </a:ext>
            </a:extLst>
          </p:cNvPr>
          <p:cNvSpPr txBox="1"/>
          <p:nvPr/>
        </p:nvSpPr>
        <p:spPr>
          <a:xfrm>
            <a:off x="621103" y="1500996"/>
            <a:ext cx="11257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Arrays?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n-dimensional data structures used to store multiple values in an organized form.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can contain different kinds of data such as integers, floats, and strings, although NumPy arrays work best with numerical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NumPy arrays, also called </a:t>
            </a:r>
            <a:r>
              <a:rPr lang="en-US" dirty="0" err="1"/>
              <a:t>ndarrays</a:t>
            </a:r>
            <a:r>
              <a:rPr lang="en-US" dirty="0"/>
              <a:t>, are usually homogeneous, meaning that the elements in an array should have the same data 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also designed to work efficiently with NumPy’s many built-in mathematical and statistical functions.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NumPy Arrays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4D128A-089D-8DF8-48FD-CEBE3FF48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299" y="3852681"/>
            <a:ext cx="4491486" cy="25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34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Creating </a:t>
            </a:r>
            <a:r>
              <a:rPr lang="en-US" sz="4000" dirty="0" err="1">
                <a:solidFill>
                  <a:srgbClr val="FFC000"/>
                </a:solidFill>
              </a:rPr>
              <a:t>Numpy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19B19-3C37-2B20-4CE1-827A81A5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" t="2422" r="978" b="2422"/>
          <a:stretch/>
        </p:blipFill>
        <p:spPr>
          <a:xfrm>
            <a:off x="396814" y="1190447"/>
            <a:ext cx="10006642" cy="55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16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D758B-D10F-B6E3-0B56-CC9352BC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2" t="2493" r="1151" b="710"/>
          <a:stretch/>
        </p:blipFill>
        <p:spPr>
          <a:xfrm>
            <a:off x="629728" y="1242204"/>
            <a:ext cx="9601200" cy="561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3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7445A-3A50-C91B-3D1C-D7C0A2828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" t="2644" r="1362" b="1720"/>
          <a:stretch/>
        </p:blipFill>
        <p:spPr>
          <a:xfrm>
            <a:off x="414068" y="1328468"/>
            <a:ext cx="10532854" cy="535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74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17E1B-4CB1-636A-2B25-6EA9034C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" t="2122" r="1582" b="1278"/>
          <a:stretch/>
        </p:blipFill>
        <p:spPr>
          <a:xfrm>
            <a:off x="517584" y="1172768"/>
            <a:ext cx="8488394" cy="546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6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7416D-8162-B9A3-E7FF-BA7FFD86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" t="2718" r="1973" b="1781"/>
          <a:stretch/>
        </p:blipFill>
        <p:spPr>
          <a:xfrm>
            <a:off x="414071" y="1186384"/>
            <a:ext cx="7159925" cy="533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1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7159924" cy="72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Useful NumPy Array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0D8B4-150A-C849-B729-AADEE81C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13703" r="1880" b="17232"/>
          <a:stretch/>
        </p:blipFill>
        <p:spPr>
          <a:xfrm>
            <a:off x="1104182" y="2130723"/>
            <a:ext cx="7062548" cy="38818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26521F-DA04-0BC8-44C7-693CD39D28EF}"/>
              </a:ext>
            </a:extLst>
          </p:cNvPr>
          <p:cNvSpPr txBox="1"/>
          <p:nvPr/>
        </p:nvSpPr>
        <p:spPr>
          <a:xfrm>
            <a:off x="1104182" y="1458666"/>
            <a:ext cx="670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following properties help us understand the structure of an array.</a:t>
            </a:r>
          </a:p>
        </p:txBody>
      </p:sp>
    </p:spTree>
    <p:extLst>
      <p:ext uri="{BB962C8B-B14F-4D97-AF65-F5344CB8AC3E}">
        <p14:creationId xmlns:p14="http://schemas.microsoft.com/office/powerpoint/2010/main" val="39084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7159924" cy="72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EE542-7A9F-AA84-6DBE-25EE81E8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" t="1982" r="2268" b="2608"/>
          <a:stretch/>
        </p:blipFill>
        <p:spPr>
          <a:xfrm>
            <a:off x="457200" y="1268086"/>
            <a:ext cx="8134710" cy="525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9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7159924" cy="72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CF0D9-AD02-D4C7-B224-03BF09E3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1" t="719" r="1685" b="2203"/>
          <a:stretch/>
        </p:blipFill>
        <p:spPr>
          <a:xfrm>
            <a:off x="457199" y="1204421"/>
            <a:ext cx="6780364" cy="516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25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8156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1"/>
            <a:ext cx="7211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arrays contain the same number of values but have different shapes.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BFDFF-A471-5D1A-F639-08501065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" t="8559" r="362" b="45604"/>
          <a:stretch/>
        </p:blipFill>
        <p:spPr>
          <a:xfrm>
            <a:off x="500332" y="1992052"/>
            <a:ext cx="10501224" cy="211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03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8156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Mathematical Operations on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1"/>
            <a:ext cx="6178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NumPy performs mathematical operations element by element.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27311-2EFA-FA97-DF3D-224AFCE7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6" t="10371" r="553" b="2276"/>
          <a:stretch/>
        </p:blipFill>
        <p:spPr>
          <a:xfrm>
            <a:off x="543463" y="1992052"/>
            <a:ext cx="10981428" cy="40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8156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Operations Between Two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1"/>
            <a:ext cx="939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NumPy, you can perform mathematical operations between two arrays element by element.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means NumPy applies the operation to each pair of corresponding elements.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57C30-2526-25B1-BB3A-F22A8537C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" t="5235" r="960" b="6586"/>
          <a:stretch/>
        </p:blipFill>
        <p:spPr>
          <a:xfrm>
            <a:off x="803693" y="2315113"/>
            <a:ext cx="10584613" cy="204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35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2651904" y="237137"/>
            <a:ext cx="8156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 Reshaping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1"/>
            <a:ext cx="76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reshape() </a:t>
            </a:r>
            <a:r>
              <a:rPr lang="en-US" dirty="0"/>
              <a:t>changes the arrangement of an array without changing its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4E9CD-D0B1-9EA1-056E-57266734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" t="2885" r="1878" b="2692"/>
          <a:stretch/>
        </p:blipFill>
        <p:spPr>
          <a:xfrm>
            <a:off x="1293963" y="1923690"/>
            <a:ext cx="8341744" cy="420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5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Flattening NumPy Arrays: .flatten() vs .ravel()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0"/>
            <a:ext cx="11093570" cy="94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NumPy, .flatten() and .ravel() convert a multidimensional array into a one-dimensional (1D)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difference is how they handle memory: .flatten() always returns a copy, while .ravel() returns a view when possible.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D5571-D608-C199-93F9-9949B3E7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1" t="3089" r="500" b="2761"/>
          <a:stretch/>
        </p:blipFill>
        <p:spPr>
          <a:xfrm>
            <a:off x="534838" y="2449902"/>
            <a:ext cx="11335109" cy="24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18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Numeric Indexing and Slicing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43C22-8AD7-24A6-D3AC-42EF2BC71B29}"/>
              </a:ext>
            </a:extLst>
          </p:cNvPr>
          <p:cNvSpPr txBox="1"/>
          <p:nvPr/>
        </p:nvSpPr>
        <p:spPr>
          <a:xfrm>
            <a:off x="776377" y="1345720"/>
            <a:ext cx="11093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NumPy, indexing and slicing help us access and select data from arrays.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Indexing: Selects a specific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Slicing: Selects a range of elements.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E137C-1450-E9F6-3129-911626C6F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" t="1274" r="348" b="1112"/>
          <a:stretch/>
        </p:blipFill>
        <p:spPr>
          <a:xfrm>
            <a:off x="574142" y="2200518"/>
            <a:ext cx="9113323" cy="422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2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Two-Dimensional Indexing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21B18-CFF6-03DB-B5E0-FFA0D6135F57}"/>
              </a:ext>
            </a:extLst>
          </p:cNvPr>
          <p:cNvSpPr txBox="1"/>
          <p:nvPr/>
        </p:nvSpPr>
        <p:spPr>
          <a:xfrm>
            <a:off x="552090" y="1293962"/>
            <a:ext cx="195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array[row, column]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8B8FC-E052-FF59-E360-99D4C5B9B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0" t="3778" r="2201" b="2387"/>
          <a:stretch/>
        </p:blipFill>
        <p:spPr>
          <a:xfrm>
            <a:off x="931653" y="1663294"/>
            <a:ext cx="8911088" cy="462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4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NumPy Descriptive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21B18-CFF6-03DB-B5E0-FFA0D6135F57}"/>
              </a:ext>
            </a:extLst>
          </p:cNvPr>
          <p:cNvSpPr txBox="1"/>
          <p:nvPr/>
        </p:nvSpPr>
        <p:spPr>
          <a:xfrm>
            <a:off x="595222" y="1259456"/>
            <a:ext cx="90656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A teacher collected final exam scores for 20 students. </a:t>
            </a:r>
          </a:p>
          <a:p>
            <a:r>
              <a:rPr lang="en-US" dirty="0"/>
              <a:t>We will use NumPy to calculate descriptive statistics and detect outliers using the IQR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3405D-4E80-1E7A-C047-D7AA450A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" t="3181" r="1901" b="2977"/>
          <a:stretch/>
        </p:blipFill>
        <p:spPr>
          <a:xfrm>
            <a:off x="1621767" y="2182786"/>
            <a:ext cx="7194430" cy="394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0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C04A2-582F-39F1-58E1-DFEE824D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7" t="2990" r="865" b="1401"/>
          <a:stretch/>
        </p:blipFill>
        <p:spPr>
          <a:xfrm>
            <a:off x="1293963" y="1380226"/>
            <a:ext cx="7285766" cy="45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65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D5D0D-D61F-1DC7-DEEA-474DDD05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" t="2208" r="1068" b="3160"/>
          <a:stretch/>
        </p:blipFill>
        <p:spPr>
          <a:xfrm>
            <a:off x="1593234" y="1371601"/>
            <a:ext cx="6595886" cy="492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1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BBD94-5BE0-019B-9B16-98A93F0ED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" t="2177" r="617" b="1076"/>
          <a:stretch/>
        </p:blipFill>
        <p:spPr>
          <a:xfrm>
            <a:off x="1052423" y="1250832"/>
            <a:ext cx="9342407" cy="53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5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B1B52-9E9D-13AD-47A5-3B549EE8E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" t="1938" r="1043" b="2652"/>
          <a:stretch/>
        </p:blipFill>
        <p:spPr>
          <a:xfrm>
            <a:off x="1104180" y="1216326"/>
            <a:ext cx="9005978" cy="50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54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8F88E-17DA-2EEE-CF35-D02DEB29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7" t="1426" r="886" b="2250"/>
          <a:stretch/>
        </p:blipFill>
        <p:spPr>
          <a:xfrm>
            <a:off x="1371601" y="1207699"/>
            <a:ext cx="8143335" cy="520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71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801037-23EC-A548-5D23-EA0AD0FD39F3}"/>
              </a:ext>
            </a:extLst>
          </p:cNvPr>
          <p:cNvSpPr txBox="1"/>
          <p:nvPr/>
        </p:nvSpPr>
        <p:spPr>
          <a:xfrm>
            <a:off x="1293963" y="62898"/>
            <a:ext cx="9454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Continue…..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E9B798-3501-D28C-5431-F2B9B2906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" t="2540" r="1146" b="2309"/>
          <a:stretch/>
        </p:blipFill>
        <p:spPr>
          <a:xfrm>
            <a:off x="465826" y="1406107"/>
            <a:ext cx="9989388" cy="357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5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24E906-32C2-1581-F508-55444C8800B7}"/>
              </a:ext>
            </a:extLst>
          </p:cNvPr>
          <p:cNvSpPr/>
          <p:nvPr/>
        </p:nvSpPr>
        <p:spPr>
          <a:xfrm>
            <a:off x="0" y="13112"/>
            <a:ext cx="12192000" cy="11355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6">
            <a:extLst>
              <a:ext uri="{FF2B5EF4-FFF2-40B4-BE49-F238E27FC236}">
                <a16:creationId xmlns:a16="http://schemas.microsoft.com/office/drawing/2014/main" id="{B61FCEAA-3612-4668-9EE8-B857D0669B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131" y="1776059"/>
            <a:ext cx="3379738" cy="43204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9139F345-713F-677E-8EC4-F6ED20DE3C6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41795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567</Words>
  <Application>Microsoft Office PowerPoint</Application>
  <PresentationFormat>Widescreen</PresentationFormat>
  <Paragraphs>62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Popin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Abdullahi Mohamed</dc:creator>
  <cp:lastModifiedBy>Mohamed M. Mohamed</cp:lastModifiedBy>
  <cp:revision>7</cp:revision>
  <dcterms:created xsi:type="dcterms:W3CDTF">2026-10-10T10:11:05Z</dcterms:created>
  <dcterms:modified xsi:type="dcterms:W3CDTF">2026-10-12T06:43:01Z</dcterms:modified>
</cp:coreProperties>
</file>